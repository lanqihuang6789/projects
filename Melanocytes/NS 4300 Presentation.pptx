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Helvetica Neue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fdd4cc31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fdd4cc31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fdd4cc3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fdd4cc3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fdd4cc31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fdd4cc31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fdd4cc31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cfdd4cc31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cfdd4cc31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cfdd4cc31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cfdd4cc31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cfdd4cc31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fdd4cc31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cfdd4cc31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fdd4cc31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cfdd4cc31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10e4c723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d10e4c723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10e4c723d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d10e4c723d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i.org/10.1038/s41586-020-1935-3" TargetMode="External"/><Relationship Id="rId4" Type="http://schemas.openxmlformats.org/officeDocument/2006/relationships/hyperlink" Target="https://doi.org/10.1038/s41586-023-05960-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678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Uncovering transcriptional profile changes in hair follicle melanocytes under stress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0996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Lanqi Huang &amp; Jonathan Li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786600" y="203100"/>
            <a:ext cx="7489200" cy="50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The Hair Cycle and the Melanocytes’ Dynamic Niche</a:t>
            </a:r>
            <a:endParaRPr b="1" sz="2000"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75200" y="846275"/>
            <a:ext cx="8793600" cy="419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10100" y="1195050"/>
            <a:ext cx="8406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Quiescence      Growth → → →  →  →  → →  →  → Regression → Quiescence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525" y="1568325"/>
            <a:ext cx="8000951" cy="31382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10100" y="3241575"/>
            <a:ext cx="13566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45F06"/>
                </a:solidFill>
              </a:rPr>
              <a:t>Melanocyte Stem Cells (MeSCs)</a:t>
            </a:r>
            <a:endParaRPr sz="1800">
              <a:solidFill>
                <a:srgbClr val="B45F06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960525" y="3685850"/>
            <a:ext cx="13566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</a:rPr>
              <a:t>TA cells</a:t>
            </a:r>
            <a:endParaRPr sz="1800">
              <a:solidFill>
                <a:srgbClr val="CC0000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187925" y="4599050"/>
            <a:ext cx="22677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B0F00"/>
                </a:solidFill>
              </a:rPr>
              <a:t>Mature Melanocytes</a:t>
            </a:r>
            <a:endParaRPr sz="1800">
              <a:solidFill>
                <a:srgbClr val="5B0F00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612200" y="3241575"/>
            <a:ext cx="13566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45F06"/>
                </a:solidFill>
              </a:rPr>
              <a:t>MeSCs</a:t>
            </a:r>
            <a:endParaRPr sz="1800">
              <a:solidFill>
                <a:srgbClr val="B45F06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271475" y="2827850"/>
            <a:ext cx="13566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45F06"/>
                </a:solidFill>
              </a:rPr>
              <a:t>MeSCs</a:t>
            </a:r>
            <a:endParaRPr sz="1800">
              <a:solidFill>
                <a:srgbClr val="B45F06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711675" y="4599050"/>
            <a:ext cx="22677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Sun et al., 2023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786600" y="203100"/>
            <a:ext cx="7489200" cy="50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Where our dataset comes from</a:t>
            </a:r>
            <a:endParaRPr b="1" sz="2000"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75200" y="846275"/>
            <a:ext cx="8793600" cy="419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913" y="1178725"/>
            <a:ext cx="7944573" cy="330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786600" y="203100"/>
            <a:ext cx="7489200" cy="50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Experimental Design and Workflow</a:t>
            </a:r>
            <a:endParaRPr b="1" sz="2000"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75200" y="846275"/>
            <a:ext cx="8793600" cy="419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900" y="1125737"/>
            <a:ext cx="1949675" cy="36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7324" y="1212650"/>
            <a:ext cx="3086525" cy="346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786600" y="203100"/>
            <a:ext cx="7489200" cy="50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Broad analysis reveals replicate heterogeneity</a:t>
            </a:r>
            <a:endParaRPr b="1" sz="2000"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175200" y="846275"/>
            <a:ext cx="8793600" cy="419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6250" y="911500"/>
            <a:ext cx="4531502" cy="40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786600" y="203100"/>
            <a:ext cx="7489200" cy="50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Checking on our retrieved dataset</a:t>
            </a:r>
            <a:endParaRPr b="1" sz="2000"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175200" y="846275"/>
            <a:ext cx="8793600" cy="419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0" l="0" r="0" t="14842"/>
          <a:stretch/>
        </p:blipFill>
        <p:spPr>
          <a:xfrm>
            <a:off x="1390375" y="1706750"/>
            <a:ext cx="2648626" cy="31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450" y="1525600"/>
            <a:ext cx="2922950" cy="33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1466575" y="1017700"/>
            <a:ext cx="1991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Sun et al., 2020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Extended Fig. 7e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5417600" y="1122150"/>
            <a:ext cx="17091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Our recreation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786600" y="203100"/>
            <a:ext cx="7489200" cy="50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Pathway Enrichment Analysis with EnrichR</a:t>
            </a:r>
            <a:endParaRPr b="1" sz="2000"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175200" y="846275"/>
            <a:ext cx="8793600" cy="419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8150" y="2263300"/>
            <a:ext cx="3584525" cy="135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99" y="1050600"/>
            <a:ext cx="4817150" cy="3869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786600" y="203100"/>
            <a:ext cx="7489200" cy="50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Stress promotes committed fate for MeSCs</a:t>
            </a:r>
            <a:endParaRPr b="1" sz="2000"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175200" y="846275"/>
            <a:ext cx="8793600" cy="419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/>
          </a:blip>
          <a:srcRect b="0" l="7158" r="0" t="2619"/>
          <a:stretch/>
        </p:blipFill>
        <p:spPr>
          <a:xfrm>
            <a:off x="676175" y="1035888"/>
            <a:ext cx="4975026" cy="39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 rotWithShape="1">
          <a:blip r:embed="rId4">
            <a:alphaModFix/>
          </a:blip>
          <a:srcRect b="0" l="19361" r="33019" t="0"/>
          <a:stretch/>
        </p:blipFill>
        <p:spPr>
          <a:xfrm>
            <a:off x="5761625" y="1718450"/>
            <a:ext cx="2950801" cy="243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">
            <a:off x="6623411" y="2006903"/>
            <a:ext cx="933975" cy="29334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/>
          <p:nvPr/>
        </p:nvSpPr>
        <p:spPr>
          <a:xfrm>
            <a:off x="6438313" y="2143100"/>
            <a:ext cx="1156500" cy="12927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 rotWithShape="1">
          <a:blip r:embed="rId3">
            <a:alphaModFix/>
          </a:blip>
          <a:srcRect b="31487" l="1506" r="93107" t="24424"/>
          <a:stretch/>
        </p:blipFill>
        <p:spPr>
          <a:xfrm>
            <a:off x="387575" y="2035725"/>
            <a:ext cx="288599" cy="17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29600" y="2143100"/>
            <a:ext cx="331578" cy="3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51088" y="2300239"/>
            <a:ext cx="288600" cy="5430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6950375" y="4609525"/>
            <a:ext cx="22677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Sun et al., 2023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786600" y="203100"/>
            <a:ext cx="7489200" cy="50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Stressed &amp; committed melanocytes upregulate </a:t>
            </a:r>
            <a:r>
              <a:rPr b="1" lang="en" sz="19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apoptosis</a:t>
            </a:r>
            <a:endParaRPr b="1" sz="1900"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175200" y="846275"/>
            <a:ext cx="8793600" cy="419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100" y="925275"/>
            <a:ext cx="5366542" cy="403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5447" y="1043625"/>
            <a:ext cx="1374525" cy="359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/>
          <p:nvPr/>
        </p:nvSpPr>
        <p:spPr>
          <a:xfrm>
            <a:off x="6707763" y="3489750"/>
            <a:ext cx="1156500" cy="12927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786600" y="203100"/>
            <a:ext cx="7489200" cy="50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Stress affects two melanocyte populations</a:t>
            </a:r>
            <a:endParaRPr b="1" sz="2000"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175200" y="846275"/>
            <a:ext cx="8793600" cy="419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50" y="1208512"/>
            <a:ext cx="5141450" cy="33168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/>
          <p:nvPr/>
        </p:nvSpPr>
        <p:spPr>
          <a:xfrm>
            <a:off x="4612263" y="2016075"/>
            <a:ext cx="1156500" cy="12927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4612263" y="3384975"/>
            <a:ext cx="1156500" cy="12927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6976" y="1419925"/>
            <a:ext cx="2111949" cy="3399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6138762" y="2588250"/>
            <a:ext cx="475500" cy="10630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5636325" y="2571750"/>
            <a:ext cx="1556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B0F00"/>
                </a:solidFill>
              </a:rPr>
              <a:t>Hair Cycle(s)</a:t>
            </a:r>
            <a:endParaRPr sz="1800">
              <a:solidFill>
                <a:srgbClr val="5B0F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786600" y="203100"/>
            <a:ext cx="7489200" cy="50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 b="1" sz="2000"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175200" y="846275"/>
            <a:ext cx="8793600" cy="419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Zhang, B., Ma, S., Rachmin, I. </a:t>
            </a:r>
            <a:r>
              <a:rPr i="1"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Hyperactivation of sympathetic nerves drives depletion of melanocyte stem cells. </a:t>
            </a:r>
            <a:r>
              <a:rPr i="1"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Nature</a:t>
            </a: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577, 676–681 (2020). </a:t>
            </a:r>
            <a:r>
              <a:rPr lang="en" sz="21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https://doi.org/10.1038/s41586-020-1935-3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Sun, Q., Lee, W., Hu, H. </a:t>
            </a:r>
            <a:r>
              <a:rPr i="1" lang="en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Dedifferentiation maintains melanocyte stem cells in a dynamic niche. </a:t>
            </a:r>
            <a:r>
              <a:rPr i="1" lang="en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Nature</a:t>
            </a:r>
            <a:r>
              <a:rPr lang="en" sz="21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616, 774–782 (2023). </a:t>
            </a:r>
            <a:r>
              <a:rPr lang="en" sz="21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https://doi.org/10.1038/s41586-023-05960-6</a:t>
            </a:r>
            <a:endParaRPr sz="21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